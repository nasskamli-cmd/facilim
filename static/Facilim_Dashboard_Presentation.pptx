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Score moyen complétude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9A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Complété</c:v>
                </c:pt>
                <c:pt idx="1">
                  <c:v>Restant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Répartition des dossiers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Dossiers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Complets</c:v>
                  </c:pt>
                  <c:pt idx="1">
                    <c:v>En cours</c:v>
                  </c:pt>
                  <c:pt idx="2">
                    <c:v>Incomplets</c:v>
                  </c:pt>
                  <c:pt idx="3">
                    <c:v>Bloqués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12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005840"/>
            <a:ext cx="1005840" cy="1005840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6B"/>
                </a:solidFill>
              </a:rPr>
              <a:t>F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37360" y="1005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Facilim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CC9A"/>
                </a:solidFill>
              </a:rPr>
              <a:t>Interface Tableau de Bord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C5E8"/>
                </a:solidFill>
              </a:rPr>
              <a:t>Simplifier la constitution des dossiers MDPH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8C5E8"/>
                </a:solidFill>
              </a:rPr>
              <a:t>pour les professionnels du handicap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41148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D4A8A"/>
          </a:solidFill>
          <a:ln w="12700">
            <a:solidFill>
              <a:srgbClr val="2D5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9A"/>
                </a:solidFill>
              </a:rPr>
              <a:t>B2B SaaS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41148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D4A8A"/>
          </a:solidFill>
          <a:ln w="12700">
            <a:solidFill>
              <a:srgbClr val="2D5A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9A"/>
                </a:solidFill>
              </a:rPr>
              <a:t>MDPH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41148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D4A8A"/>
          </a:solidFill>
          <a:ln w="12700">
            <a:solidFill>
              <a:srgbClr val="2D5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9A"/>
                </a:solidFill>
              </a:rPr>
              <a:t>IA &amp; WhatsApp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41148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1D4A8A"/>
          </a:solidFill>
          <a:ln w="12700">
            <a:solidFill>
              <a:srgbClr val="2D5A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1148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C9A"/>
                </a:solidFill>
              </a:rPr>
              <a:t>RGPD / HDS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52D56"/>
          </a:solidFill>
          <a:ln w="12700">
            <a:solidFill>
              <a:srgbClr val="152D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Confidentiel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 problème résolu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93192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49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😓  Avant Facilim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56032" cy="2560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Formulaire CERFA de 16 pages à remplir manuellement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19656"/>
            <a:ext cx="256032" cy="2560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81965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Collecte fastidieuse des pièces justificatives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04872"/>
            <a:ext cx="256032" cy="2560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4048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Allers-retours répétés avec les familles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990088"/>
            <a:ext cx="256032" cy="2560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9900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Délais MDPH : 4 à 6 mois pour un dossier complet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75304"/>
            <a:ext cx="256032" cy="25603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357530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Charge administrative écrasante pour les éducateurs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68580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749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✅  Avec Facilim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56048" y="1234440"/>
            <a:ext cx="256032" cy="25603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94376" y="12344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Bot WhatsApp guide la famille étape par étape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1819656"/>
            <a:ext cx="256032" cy="25603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94376" y="181965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IA pré-remplit automatiquement le CERFA 15692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56048" y="2404872"/>
            <a:ext cx="256032" cy="25603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94376" y="24048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Relances automatiques (J+1, J+2, J+3)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56048" y="2990088"/>
            <a:ext cx="256032" cy="25603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990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94376" y="299008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Score de complétude en temps réel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56048" y="3575304"/>
            <a:ext cx="256032" cy="25603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575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94376" y="357530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Dossier complet envoyé par email en quelques jours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15968" y="2468880"/>
            <a:ext cx="512064" cy="2743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15968" y="246888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Vue d'ensemble — Tableau de bord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62D5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694944"/>
            <a:ext cx="347472" cy="34747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94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6B"/>
                </a:solidFill>
              </a:rPr>
              <a:t>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94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5E8"/>
                </a:solidFill>
              </a:rPr>
              <a:t>Facilim   |   Tableau de bord · Agents actifs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0" y="722376"/>
            <a:ext cx="1097280" cy="31089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7223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+ Nouveau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743200" cy="1078992"/>
          </a:xfrm>
          <a:prstGeom prst="rect">
            <a:avLst/>
          </a:prstGeom>
          <a:solidFill>
            <a:srgbClr val="EEF3FB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18288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</a:rPr>
              <a:t>12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45920" y="1536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Total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73552" y="1261872"/>
            <a:ext cx="2743200" cy="1078992"/>
          </a:xfrm>
          <a:prstGeom prst="rect">
            <a:avLst/>
          </a:prstGeom>
          <a:solidFill>
            <a:srgbClr val="E0F2FE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1071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10712" y="18288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69A1"/>
                </a:solidFill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45152" y="1536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En cours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261872"/>
            <a:ext cx="2743200" cy="1078992"/>
          </a:xfrm>
          <a:prstGeom prst="rect">
            <a:avLst/>
          </a:prstGeom>
          <a:solidFill>
            <a:srgbClr val="FEF9C3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635240" y="1536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Incomplets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487168"/>
            <a:ext cx="2743200" cy="1078992"/>
          </a:xfrm>
          <a:prstGeom prst="rect">
            <a:avLst/>
          </a:prstGeom>
          <a:solidFill>
            <a:srgbClr val="ECFDF5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596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11480" y="30540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645920" y="2761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Complétés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73552" y="2487168"/>
            <a:ext cx="2743200" cy="1078992"/>
          </a:xfrm>
          <a:prstGeom prst="rect">
            <a:avLst/>
          </a:prstGeom>
          <a:solidFill>
            <a:srgbClr val="FEF2F2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10712" y="2596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10712" y="30540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1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645152" y="2761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Urgents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487168"/>
            <a:ext cx="2743200" cy="1078992"/>
          </a:xfrm>
          <a:prstGeom prst="rect">
            <a:avLst/>
          </a:prstGeom>
          <a:solidFill>
            <a:srgbClr val="F5F3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25968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🚫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0" y="30540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</a:rPr>
              <a:t>2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635240" y="2761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Bloqués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859536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</a:rPr>
              <a:t>⚠️  Bannière d'attention automatique — alerte quand des dossiers incomplets nécessitent une action immédiate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0" y="4224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Navigation sombre · 6 indicateurs clés · Alertes contextuelles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Gestion des dossiers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859536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21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Référence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554480" y="621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Famille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108960" y="621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Statut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0" y="6217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6217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Relances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92240" y="62179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Urgence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0" y="6217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00584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424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DOS-001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10424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Martin 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1161288"/>
            <a:ext cx="1005840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1612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Complet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0520" y="1216152"/>
            <a:ext cx="11887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216152"/>
            <a:ext cx="1093622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0424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92%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0424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 ✉️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39128" y="1161288"/>
            <a:ext cx="804672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11612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Normale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89520" y="1170432"/>
            <a:ext cx="30175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11704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Voir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36992" y="1170432"/>
            <a:ext cx="301752" cy="2743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11704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Enrichir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84464" y="1170432"/>
            <a:ext cx="301752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11704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1691640"/>
            <a:ext cx="859536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728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DOS-002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17282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Dubois F.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08960" y="1847088"/>
            <a:ext cx="100584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18470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Incomplet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60520" y="1901952"/>
            <a:ext cx="11887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60520" y="1901952"/>
            <a:ext cx="570586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17282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48%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17282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 ✉️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39128" y="1847088"/>
            <a:ext cx="804672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39128" y="18470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Haute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589520" y="1856232"/>
            <a:ext cx="30175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18562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Voir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936992" y="1856232"/>
            <a:ext cx="301752" cy="2743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36992" y="18562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Enrichir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84464" y="1856232"/>
            <a:ext cx="301752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84464" y="18562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2377440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24140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DOS-003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554480" y="24140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Nait Ali K.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08960" y="2532888"/>
            <a:ext cx="1005840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2532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</a:rPr>
              <a:t>En cours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60520" y="2587752"/>
            <a:ext cx="11887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60520" y="2587752"/>
            <a:ext cx="79644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24140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67%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97880" y="24140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 ✉️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739128" y="2532888"/>
            <a:ext cx="804672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39128" y="25328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</a:rPr>
              <a:t>Normale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589520" y="2542032"/>
            <a:ext cx="30175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0" y="25420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Voir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936992" y="2542032"/>
            <a:ext cx="301752" cy="2743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936992" y="25420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Enrichir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284464" y="2542032"/>
            <a:ext cx="301752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284464" y="25420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74320" y="3063240"/>
            <a:ext cx="859536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30998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DOS-004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554480" y="30998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Lemaire P.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108960" y="3218688"/>
            <a:ext cx="1005840" cy="31089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0" y="32186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Bloqué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60520" y="3273552"/>
            <a:ext cx="118872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60520" y="3273552"/>
            <a:ext cx="368503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94960" y="309981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31%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897880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0 ✉️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739128" y="3218688"/>
            <a:ext cx="804672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39128" y="321868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1515"/>
                </a:solidFill>
              </a:rPr>
              <a:t>Critique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589520" y="3227832"/>
            <a:ext cx="301752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2278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Voir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7936992" y="3227832"/>
            <a:ext cx="301752" cy="2743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36992" y="32278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6B"/>
                </a:solidFill>
              </a:rPr>
              <a:t>Enrichir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284464" y="3227832"/>
            <a:ext cx="301752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84464" y="3227832"/>
            <a:ext cx="301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Score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0" y="47091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Badges colorés par statut · Barre de progression score · Actions contextuelles par dossier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Guide d'action intelligent — Modal "Voir"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58368"/>
            <a:ext cx="85953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DOS-002 · Dubois Françoise · Dossier incomplet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83210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61872"/>
            <a:ext cx="399592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96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</a:rPr>
              <a:t>Score de complétude : 48 %   →   potentiel estimé : 82 % après enrichissement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29384"/>
            <a:ext cx="256032" cy="25603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9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874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Identité &amp; contact bénéficiaire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50008"/>
            <a:ext cx="256032" cy="25603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50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2951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</a:rPr>
              <a:t>Type de demande (renouvellement AEEH)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0632"/>
            <a:ext cx="256032" cy="25603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7157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Situation professionnelle / scolaire manquante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40680" y="2770632"/>
            <a:ext cx="1097280" cy="2743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770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Enrichir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91256"/>
            <a:ext cx="256032" cy="25603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91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" y="31363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Certificat médical (à transmettre par messagerie sécurisée)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40680" y="3191256"/>
            <a:ext cx="109728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191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Email sécurisé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256032" cy="256032"/>
          </a:xfrm>
          <a:prstGeom prst="ellipse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✗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35570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Justificatif de domicile non fourni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40680" y="3611880"/>
            <a:ext cx="1097280" cy="27432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Relancer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096512"/>
            <a:ext cx="832104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1422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⚡  Action recommandée : Relancer la famille par WhatsApp pour obtenir la situation professionnelle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4160520"/>
            <a:ext cx="1965960" cy="41148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160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▶  Relancer maintenant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Collecte WhatsApp IA — FALC &amp; conversationnelle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3017520" cy="4279392"/>
          </a:xfrm>
          <a:prstGeom prst="roundRect">
            <a:avLst>
              <a:gd name="adj" fmla="val 7576"/>
            </a:avLst>
          </a:prstGeom>
          <a:solidFill>
            <a:srgbClr val="1A1A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14400"/>
            <a:ext cx="2743200" cy="3749040"/>
          </a:xfrm>
          <a:prstGeom prst="rect">
            <a:avLst/>
          </a:prstGeom>
          <a:solidFill>
            <a:srgbClr val="ECE5DD"/>
          </a:solidFill>
          <a:ln w="12700">
            <a:solidFill>
              <a:srgbClr val="ECE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14400"/>
            <a:ext cx="2743200" cy="384048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🤖 Bot Facilim · WhatsApp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Bonjour ! Je suis le bot Facilim. Je vais vous aider à préparer le dossier MDPH. Comment s'appelle la personne concernée ?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43000" y="212140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12140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Dubois Françoise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48640" y="262432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24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Merci ! Quelle est sa date de naissance ?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43000" y="3127248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12724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12/03/1978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30168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Parfait. S'agit-il d'une première demande ou d'un renouvellement ?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43000" y="4379976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3799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Renouvellement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0" y="713232"/>
            <a:ext cx="5212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67328" y="832104"/>
            <a:ext cx="438912" cy="438912"/>
          </a:xfrm>
          <a:prstGeom prst="ellipse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67328" y="832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🗣️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97680" y="786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FALC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10607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Questions simples, vocabulaire adapté aux familles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1508760"/>
            <a:ext cx="5212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67328" y="1627632"/>
            <a:ext cx="438912" cy="438912"/>
          </a:xfrm>
          <a:prstGeom prst="ellipse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67328" y="1627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97680" y="1581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Relances auto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18562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Mathilde relance J+1, J+2, J+3 si pas de réponse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2304288"/>
            <a:ext cx="5212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67328" y="2423160"/>
            <a:ext cx="438912" cy="438912"/>
          </a:xfrm>
          <a:prstGeom prst="ellipse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7328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97680" y="2377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Données médicales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97680" y="2651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Redirigées vers email sécurisé — jamais via WhatsApp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0" y="3099816"/>
            <a:ext cx="5212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67328" y="3218688"/>
            <a:ext cx="438912" cy="438912"/>
          </a:xfrm>
          <a:prstGeom prst="ellipse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7328" y="3218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297680" y="31729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IA contextuelle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297680" y="34472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Mémorise les réponses, ne re-pose jamais les mêmes questions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0" y="3895344"/>
            <a:ext cx="52120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67328" y="4014216"/>
            <a:ext cx="438912" cy="438912"/>
          </a:xfrm>
          <a:prstGeom prst="ellipse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297680" y="3968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</a:rPr>
              <a:t>CERFA auto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297680" y="4242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Réponses → formulaire 15692*01 pré-rempli automatiquement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Agents IA en arrière-plan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0" y="62179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5E8"/>
                </a:solidFill>
              </a:rPr>
              <a:t>Une infrastructure multi-agents orchestre chaque dossier de façon autonome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794760"/>
          </a:xfrm>
          <a:prstGeom prst="rect">
            <a:avLst/>
          </a:prstGeom>
          <a:solidFill>
            <a:srgbClr val="1D3461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188720"/>
            <a:ext cx="713232" cy="7132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Mathilde (N0)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E8"/>
                </a:solidFill>
              </a:rPr>
              <a:t>Relances automatiques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724912"/>
            <a:ext cx="54864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6974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Relance J+1 si pas de réponse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999232"/>
            <a:ext cx="54864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9718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Relance J+2 avec reformulation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273552"/>
            <a:ext cx="54864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Relance J+3 alerte éducateur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547872"/>
            <a:ext cx="54864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5204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Gestion des désinscriptions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50592" y="1051560"/>
            <a:ext cx="2011680" cy="3794760"/>
          </a:xfrm>
          <a:prstGeom prst="rect">
            <a:avLst/>
          </a:prstGeom>
          <a:solidFill>
            <a:srgbClr val="1A3D2E"/>
          </a:solidFill>
          <a:ln w="12700">
            <a:solidFill>
              <a:srgbClr val="2ECC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90672" y="1188720"/>
            <a:ext cx="713232" cy="71323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42032" y="19933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9A"/>
                </a:solidFill>
              </a:rPr>
              <a:t>Bot WhatsApp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42032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E8"/>
                </a:solidFill>
              </a:rPr>
              <a:t>Collecte conversationnelle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87752" y="2724912"/>
            <a:ext cx="54864" cy="12801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6974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Questions FALC adaptées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87752" y="2999232"/>
            <a:ext cx="54864" cy="12801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9718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Extraction réponses CERFA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87752" y="3273552"/>
            <a:ext cx="54864" cy="12801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Validation format données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87752" y="3547872"/>
            <a:ext cx="54864" cy="12801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35204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Mémoire inter-sessions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26864" y="1051560"/>
            <a:ext cx="2011680" cy="3794760"/>
          </a:xfrm>
          <a:prstGeom prst="rect">
            <a:avLst/>
          </a:prstGeom>
          <a:solidFill>
            <a:srgbClr val="3D2E1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66944" y="1188720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66944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718304" y="19933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Analyse CNSA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18304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E8"/>
                </a:solidFill>
              </a:rPr>
              <a:t>Scoring multi-agents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64024" y="2724912"/>
            <a:ext cx="5486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6974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Expert GEVA : évaluation besoins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64024" y="2999232"/>
            <a:ext cx="5486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29718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Juriste : droits applicables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64024" y="3273552"/>
            <a:ext cx="5486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Coordinateur : score global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64024" y="3547872"/>
            <a:ext cx="5486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5204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Identification éléments manquants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03136" y="1051560"/>
            <a:ext cx="2011680" cy="3794760"/>
          </a:xfrm>
          <a:prstGeom prst="rect">
            <a:avLst/>
          </a:prstGeom>
          <a:solidFill>
            <a:srgbClr val="2D1B4E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443216" y="1188720"/>
            <a:ext cx="713232" cy="7132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43216" y="11887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894576" y="19933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Générateur CERFA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894576" y="23317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C5E8"/>
                </a:solidFill>
              </a:rPr>
              <a:t>Pré-remplissage CERFA 15692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40296" y="2724912"/>
            <a:ext cx="54864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0024" y="269748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Mapping réponses → champs PDF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40296" y="2999232"/>
            <a:ext cx="54864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50024" y="297180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Validation cohérence données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40296" y="3273552"/>
            <a:ext cx="54864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0024" y="32461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Génération CERFA 15692*01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40296" y="3547872"/>
            <a:ext cx="54864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50024" y="352044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Envoi email dossier complet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304288" y="2880360"/>
            <a:ext cx="164592" cy="12801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0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9A"/>
                </a:solidFill>
              </a:rPr>
              <a:t>→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480560" y="2880360"/>
            <a:ext cx="164592" cy="12801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2272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9A"/>
                </a:solidFill>
              </a:rPr>
              <a:t>→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656832" y="2880360"/>
            <a:ext cx="164592" cy="128016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38544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CC9A"/>
                </a:solidFill>
              </a:rPr>
              <a:t>→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Sécurité &amp; conformité — RGPD / HDS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4297680" cy="1920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768096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1832" y="7680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Données médicales protégées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Art. 9 RGPD : données de santé = catégorie spéciale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NIR, diagnostic, traitements → JAMAIS via WhatsApp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Transmission uniquement par messagerie sécurisée ou email chiffré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Aucun stockage santé chez Meta ou dans les logs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658368"/>
            <a:ext cx="4297680" cy="1920240"/>
          </a:xfrm>
          <a:prstGeom prst="rect">
            <a:avLst/>
          </a:prstGeom>
          <a:solidFill>
            <a:srgbClr val="EFF6FF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768096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76672" y="76809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Hébergement Données de Santé (HDS)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2801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Infrastructure certifiée HDS pour les données médicales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15819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Cloisonnement strict données admin / données santé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18836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Chiffrement au repos et en transit (TLS 1.3)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18541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Traçabilité audit complète (trail immuable)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429768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807208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" y="2807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RGPD — Droits des personnes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319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Droit d'accès, rectification et effacement (Art. 17)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621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Durée de conservation : 5 ans après fin accompagnement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39227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Consentement explicite avant collecte WhatsApp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224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Registre des traitements à jour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697480"/>
            <a:ext cx="4297680" cy="192024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0720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76672" y="280720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Architecture sécurisée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92040" y="33192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Row Level Security (RLS) PostgreSQL par établissement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621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Authentification JWT + refresh tokens sécurisés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9227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Webhook WhatsApp validé par signature HMAC-SHA256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92040" y="42245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·  Railway + pgcrypto pour chiffrement colonne sensibles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0" y="4754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Zéro donnée de santé chez Meta · Consentement explicite · Droit à l'effacement Art.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Résultats &amp; métriques clés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011680" cy="2011680"/>
          </a:xfrm>
          <a:prstGeom prst="rect">
            <a:avLst/>
          </a:prstGeom>
          <a:solidFill>
            <a:srgbClr val="EEF3FB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6B"/>
                </a:solidFill>
              </a:rPr>
              <a:t>-70%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Temps de constitution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du dossier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685800"/>
            <a:ext cx="201168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50592" y="13258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92%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42032" y="19933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Taux de réponse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familles (WhatsApp)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685800"/>
            <a:ext cx="2011680" cy="2011680"/>
          </a:xfrm>
          <a:prstGeom prst="rect">
            <a:avLst/>
          </a:prstGeom>
          <a:solidFill>
            <a:srgbClr val="FEF9C3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3258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</a:rPr>
              <a:t>3j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718304" y="19933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Délai moyen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dossier complet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685800"/>
            <a:ext cx="2011680" cy="2011680"/>
          </a:xfrm>
          <a:prstGeom prst="rect">
            <a:avLst/>
          </a:prstGeom>
          <a:solidFill>
            <a:srgbClr val="F5F3FF"/>
          </a:solidFill>
          <a:ln w="12700">
            <a:solidFill>
              <a:srgbClr val="E8EDF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8046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03136" y="132588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94576" y="19933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CERFA pré-rempli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automatiquement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2880360"/>
          <a:ext cx="29260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3383280" y="2880360"/>
          <a:ext cx="5394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320040"/>
            <a:ext cx="1645920" cy="1645920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3200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B3A6B"/>
                </a:solidFill>
              </a:rPr>
              <a:t>F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Facilim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5E8"/>
                </a:solidFill>
              </a:rPr>
              <a:t>L'infrastructure qui libère les éducateurs spécialisés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C5E8"/>
                </a:solidFill>
              </a:rPr>
              <a:t>de la charge administrative MDPH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377440" cy="475488"/>
          </a:xfrm>
          <a:prstGeom prst="rect">
            <a:avLst/>
          </a:prstGeom>
          <a:solidFill>
            <a:srgbClr val="1D4A8A"/>
          </a:solidFill>
          <a:ln w="12700">
            <a:solidFill>
              <a:srgbClr val="2D5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576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9A"/>
                </a:solidFill>
              </a:rPr>
              <a:t>📧  contact@facilim.fr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3657600"/>
            <a:ext cx="2377440" cy="475488"/>
          </a:xfrm>
          <a:prstGeom prst="rect">
            <a:avLst/>
          </a:prstGeom>
          <a:solidFill>
            <a:srgbClr val="1D4A8A"/>
          </a:solidFill>
          <a:ln w="12700">
            <a:solidFill>
              <a:srgbClr val="2D5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6576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9A"/>
                </a:solidFill>
              </a:rPr>
              <a:t>💻  app.facilim.fr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3657600"/>
            <a:ext cx="2377440" cy="475488"/>
          </a:xfrm>
          <a:prstGeom prst="rect">
            <a:avLst/>
          </a:prstGeom>
          <a:solidFill>
            <a:srgbClr val="1D4A8A"/>
          </a:solidFill>
          <a:ln w="12700">
            <a:solidFill>
              <a:srgbClr val="2D5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65760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9A"/>
                </a:solidFill>
              </a:rPr>
              <a:t>📍  France · Accès sur demande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Facilim est une solution B2B réservée aux établissements ESSMS (IME, SESSAD, ESAT, SAVS, SAMSAH)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Facilim — Interface Tableau de Bord</dc:title>
  <dc:subject>PptxGenJS Presentation</dc:subject>
  <dc:creator>Facilim</dc:creator>
  <cp:lastModifiedBy>Facilim</cp:lastModifiedBy>
  <cp:revision>1</cp:revision>
  <dcterms:created xsi:type="dcterms:W3CDTF">2026-05-26T20:37:22Z</dcterms:created>
  <dcterms:modified xsi:type="dcterms:W3CDTF">2026-05-26T20:37:22Z</dcterms:modified>
</cp:coreProperties>
</file>